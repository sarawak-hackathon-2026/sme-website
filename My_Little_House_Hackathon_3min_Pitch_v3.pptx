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1" r:id="rId5"/>
    <p:sldId id="259" r:id="rId6"/>
    <p:sldId id="260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ynn Choa" userId="bc958f2c3ddc8fb2" providerId="Windows Live" clId="Web-{9D029034-93A7-7A4C-6CF5-4F4C5FC7B01C}"/>
    <pc:docChg chg="modSld">
      <pc:chgData name="Lynn Choa" userId="bc958f2c3ddc8fb2" providerId="Windows Live" clId="Web-{9D029034-93A7-7A4C-6CF5-4F4C5FC7B01C}" dt="2026-09-04T04:43:13.300" v="1"/>
      <pc:docMkLst>
        <pc:docMk/>
      </pc:docMkLst>
      <pc:sldChg chg="modNotes">
        <pc:chgData name="Lynn Choa" userId="bc958f2c3ddc8fb2" providerId="Windows Live" clId="Web-{9D029034-93A7-7A4C-6CF5-4F4C5FC7B01C}" dt="2026-09-04T04:43:08.862" v="0"/>
        <pc:sldMkLst>
          <pc:docMk/>
          <pc:sldMk cId="0" sldId="256"/>
        </pc:sldMkLst>
      </pc:sldChg>
      <pc:sldChg chg="modNotes">
        <pc:chgData name="Lynn Choa" userId="bc958f2c3ddc8fb2" providerId="Windows Live" clId="Web-{9D029034-93A7-7A4C-6CF5-4F4C5FC7B01C}" dt="2026-09-04T04:43:13.300" v="1"/>
        <pc:sldMkLst>
          <pc:docMk/>
          <pc:sldMk cId="0" sldId="25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8053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About 40 seconds:
“Here is the core of what we built. The homepage immediately answers where the centre is, who it serves and what makes it distinctive. Real programme information is brought forward — including the age groups, play-based approach and the confirmed one-teacher-to-three-babies ratio for infant care. We kept the language warm and local with ‘Rooted in Sarawak’, but the structure stays practical: parents can quickly move to programmes or book a visit.”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About 25 seconds:
“Here is the same centre, side by side. Before, the online presence was a slide-deck export — warm, but with no navigation and no clear next step for a parent. After, it’s a real website: a clear menu, the same warm local story, and one obvious path to book a visit.”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About 35 seconds:
“The full site is five pages, but it behaves like one journey. Home orients. Programs helps a parent match their child to the right option. About builds reassurance. Gallery makes the centre feel real and human. Contact turns interest into action. The design principle was simple: every click should either answer a parent question or move them one step closer to contact.”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Closing (about 35 seconds):
“So what does success look like? Parents find the essentials faster, trust the information sooner, and have an easier path to enquire. We also built with a launch mindset: the remaining placeholders — contact details, hours, fees and photos — should only go live once confirmed, and any identifiable child photos need parental consent. Our goal was not just to make a prettier website. It was to create a clearer bridge between a trusted local childcare centre and the families looking for it. Rooted in Sarawak, growing every child. Thank you.”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E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30">
                <a:solidFill>
                  <a:srgbClr val="7B6F6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AI FRIENDSHIP DESIGN HACKATHON 2026</a:t>
            </a:r>
            <a:endParaRPr lang="en-US" sz="800"/>
          </a:p>
        </p:txBody>
      </p:sp>
      <p:sp>
        <p:nvSpPr>
          <p:cNvPr id="3" name="Text 1"/>
          <p:cNvSpPr/>
          <p:nvPr/>
        </p:nvSpPr>
        <p:spPr>
          <a:xfrm>
            <a:off x="8458200" y="651052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80">
                <a:solidFill>
                  <a:srgbClr val="7B6F6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MY LITTLE HOUSE · BINTULU, SARAWAK</a:t>
            </a:r>
            <a:endParaRPr lang="en-US" sz="8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B6F68"/>
                </a:solidFill>
                <a:latin typeface="Arimo"/>
                <a:ea typeface="Arimo"/>
                <a:cs typeface="Arimo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B6F68"/>
                </a:solidFill>
                <a:latin typeface="Arimo"/>
                <a:ea typeface="Arimo"/>
                <a:cs typeface="Arimo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9098280" y="18288"/>
            <a:ext cx="2971800" cy="2240280"/>
          </a:xfrm>
          <a:prstGeom prst="arc">
            <a:avLst/>
          </a:prstGeom>
          <a:solidFill>
            <a:srgbClr val="F7E3B8">
              <a:alpha val="80000"/>
            </a:srgbClr>
          </a:solidFill>
          <a:ln w="12700">
            <a:solidFill>
              <a:srgbClr val="F7E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9646920" y="4498848"/>
            <a:ext cx="2331720" cy="1828800"/>
          </a:xfrm>
          <a:prstGeom prst="ellipse">
            <a:avLst/>
          </a:prstGeom>
          <a:solidFill>
            <a:srgbClr val="DCE7DF"/>
          </a:solidFill>
          <a:ln w="12700">
            <a:solidFill>
              <a:srgbClr val="DCE7D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4" name="Header Logo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548640"/>
            <a:ext cx="713232" cy="713232"/>
          </a:xfrm>
          <a:prstGeom prst="rect">
            <a:avLst/>
          </a:prstGeom>
        </p:spPr>
      </p:pic>
      <p:sp>
        <p:nvSpPr>
          <p:cNvPr id="8" name="Text 6"/>
          <p:cNvSpPr txBox="1"/>
          <p:nvPr/>
        </p:nvSpPr>
        <p:spPr>
          <a:xfrm>
            <a:off x="1481328" y="5852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kern="0" spc="120">
                <a:solidFill>
                  <a:srgbClr val="1F4D3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MY LITTLE HOUSE</a:t>
            </a:r>
            <a:endParaRPr lang="en-US" sz="1200"/>
          </a:p>
        </p:txBody>
      </p:sp>
      <p:sp>
        <p:nvSpPr>
          <p:cNvPr id="9" name="Text 7"/>
          <p:cNvSpPr txBox="1"/>
          <p:nvPr/>
        </p:nvSpPr>
        <p:spPr>
          <a:xfrm>
            <a:off x="1481328" y="81055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kern="0" spc="190">
                <a:solidFill>
                  <a:srgbClr val="C1502E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PLAY SCHOOL</a:t>
            </a:r>
            <a:endParaRPr lang="en-US" sz="1200"/>
          </a:p>
        </p:txBody>
      </p:sp>
      <p:sp>
        <p:nvSpPr>
          <p:cNvPr id="10" name="Text 8"/>
          <p:cNvSpPr txBox="1"/>
          <p:nvPr/>
        </p:nvSpPr>
        <p:spPr>
          <a:xfrm>
            <a:off x="621792" y="1627632"/>
            <a:ext cx="7086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00" b="1">
                <a:solidFill>
                  <a:srgbClr val="2B242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little house.</a:t>
            </a:r>
            <a:endParaRPr lang="en-US" sz="310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3100" b="1">
                <a:solidFill>
                  <a:srgbClr val="2B242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much clearer digital front door.</a:t>
            </a:r>
            <a:endParaRPr lang="en-US" sz="3100"/>
          </a:p>
        </p:txBody>
      </p:sp>
      <p:sp>
        <p:nvSpPr>
          <p:cNvPr id="11" name="Text 9"/>
          <p:cNvSpPr txBox="1"/>
          <p:nvPr/>
        </p:nvSpPr>
        <p:spPr>
          <a:xfrm>
            <a:off x="658368" y="3182112"/>
            <a:ext cx="6629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>
                <a:solidFill>
                  <a:srgbClr val="7B6F6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We redesigned the parent journey for a real childcare centre in Bintulu — making it easier to discover, understand and enquire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658368" y="4261104"/>
            <a:ext cx="1426464" cy="329184"/>
          </a:xfrm>
          <a:prstGeom prst="roundRect">
            <a:avLst>
              <a:gd name="adj" fmla="val 50000"/>
            </a:avLst>
          </a:prstGeom>
          <a:solidFill>
            <a:srgbClr val="F7E3B8"/>
          </a:solidFill>
          <a:ln w="12700">
            <a:solidFill>
              <a:srgbClr val="F7E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" name="Text 11"/>
          <p:cNvSpPr txBox="1"/>
          <p:nvPr/>
        </p:nvSpPr>
        <p:spPr>
          <a:xfrm>
            <a:off x="658368" y="4261104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>
                <a:solidFill>
                  <a:srgbClr val="2B242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PLAY-BASED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2221992" y="4261104"/>
            <a:ext cx="1965960" cy="329184"/>
          </a:xfrm>
          <a:prstGeom prst="roundRect">
            <a:avLst>
              <a:gd name="adj" fmla="val 50000"/>
            </a:avLst>
          </a:prstGeom>
          <a:solidFill>
            <a:srgbClr val="DCE7DF"/>
          </a:solidFill>
          <a:ln w="12700">
            <a:solidFill>
              <a:srgbClr val="DCE7D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Text 13"/>
          <p:cNvSpPr txBox="1"/>
          <p:nvPr/>
        </p:nvSpPr>
        <p:spPr>
          <a:xfrm>
            <a:off x="2221992" y="4261104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>
                <a:solidFill>
                  <a:srgbClr val="1F4D3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 MONTHS - 9 YEARS</a:t>
            </a:r>
            <a:endParaRPr lang="en-US" sz="1200"/>
          </a:p>
        </p:txBody>
      </p:sp>
      <p:sp>
        <p:nvSpPr>
          <p:cNvPr id="16" name="Shape 14"/>
          <p:cNvSpPr/>
          <p:nvPr/>
        </p:nvSpPr>
        <p:spPr>
          <a:xfrm>
            <a:off x="4325112" y="4261104"/>
            <a:ext cx="2212848" cy="329184"/>
          </a:xfrm>
          <a:prstGeom prst="roundRect">
            <a:avLst>
              <a:gd name="adj" fmla="val 50000"/>
            </a:avLst>
          </a:prstGeom>
          <a:solidFill>
            <a:srgbClr val="F1D6CC"/>
          </a:solidFill>
          <a:ln w="12700">
            <a:solidFill>
              <a:srgbClr val="F1D6C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Text 15"/>
          <p:cNvSpPr txBox="1"/>
          <p:nvPr/>
        </p:nvSpPr>
        <p:spPr>
          <a:xfrm>
            <a:off x="4325112" y="4261104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>
                <a:solidFill>
                  <a:srgbClr val="C1502E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INCLUSIVE PROGRAMME</a:t>
            </a:r>
            <a:endParaRPr lang="en-US" sz="1200"/>
          </a:p>
        </p:txBody>
      </p:sp>
      <p:sp>
        <p:nvSpPr>
          <p:cNvPr id="18" name="Shape 16"/>
          <p:cNvSpPr/>
          <p:nvPr/>
        </p:nvSpPr>
        <p:spPr>
          <a:xfrm>
            <a:off x="7818120" y="1188720"/>
            <a:ext cx="3794760" cy="4315968"/>
          </a:xfrm>
          <a:prstGeom prst="roundRect">
            <a:avLst>
              <a:gd name="adj" fmla="val 4337"/>
            </a:avLst>
          </a:prstGeom>
          <a:solidFill>
            <a:srgbClr val="FFFFFF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Shape 17"/>
          <p:cNvSpPr/>
          <p:nvPr/>
        </p:nvSpPr>
        <p:spPr>
          <a:xfrm>
            <a:off x="7818120" y="1188720"/>
            <a:ext cx="3794760" cy="365760"/>
          </a:xfrm>
          <a:prstGeom prst="rect">
            <a:avLst/>
          </a:prstGeom>
          <a:solidFill>
            <a:srgbClr val="FBF7F0"/>
          </a:solidFill>
          <a:ln w="889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0" name="Shape 18"/>
          <p:cNvSpPr/>
          <p:nvPr/>
        </p:nvSpPr>
        <p:spPr>
          <a:xfrm>
            <a:off x="8001000" y="1307592"/>
            <a:ext cx="73152" cy="73152"/>
          </a:xfrm>
          <a:prstGeom prst="ellipse">
            <a:avLst/>
          </a:prstGeom>
          <a:solidFill>
            <a:srgbClr val="D8A8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1" name="Shape 19"/>
          <p:cNvSpPr/>
          <p:nvPr/>
        </p:nvSpPr>
        <p:spPr>
          <a:xfrm>
            <a:off x="8165592" y="1307592"/>
            <a:ext cx="73152" cy="73152"/>
          </a:xfrm>
          <a:prstGeom prst="ellipse">
            <a:avLst/>
          </a:prstGeom>
          <a:solidFill>
            <a:srgbClr val="E8CC9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2" name="Shape 20"/>
          <p:cNvSpPr/>
          <p:nvPr/>
        </p:nvSpPr>
        <p:spPr>
          <a:xfrm>
            <a:off x="8330184" y="1307592"/>
            <a:ext cx="73152" cy="73152"/>
          </a:xfrm>
          <a:prstGeom prst="ellipse">
            <a:avLst/>
          </a:prstGeom>
          <a:solidFill>
            <a:srgbClr val="A9C2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7" name="Text 25"/>
          <p:cNvSpPr txBox="1"/>
          <p:nvPr/>
        </p:nvSpPr>
        <p:spPr>
          <a:xfrm>
            <a:off x="8613648" y="179222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>
                <a:solidFill>
                  <a:srgbClr val="1F4D3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My Little House Play School</a:t>
            </a:r>
            <a:endParaRPr lang="en-US" sz="1100"/>
          </a:p>
        </p:txBody>
      </p:sp>
      <p:sp>
        <p:nvSpPr>
          <p:cNvPr id="28" name="Text 26"/>
          <p:cNvSpPr txBox="1"/>
          <p:nvPr/>
        </p:nvSpPr>
        <p:spPr>
          <a:xfrm>
            <a:off x="8119872" y="2450592"/>
            <a:ext cx="31546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>
                <a:solidFill>
                  <a:srgbClr val="1F4D3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Rooted in Sarawak,</a:t>
            </a:r>
            <a:endParaRPr lang="en-US" sz="210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100" b="1">
                <a:solidFill>
                  <a:srgbClr val="1F4D3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growing every child.</a:t>
            </a:r>
            <a:endParaRPr lang="en-US" sz="2100"/>
          </a:p>
        </p:txBody>
      </p:sp>
      <p:sp>
        <p:nvSpPr>
          <p:cNvPr id="29" name="Text 27"/>
          <p:cNvSpPr txBox="1"/>
          <p:nvPr/>
        </p:nvSpPr>
        <p:spPr>
          <a:xfrm>
            <a:off x="8138160" y="3246120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>
                <a:solidFill>
                  <a:srgbClr val="7B6F6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Warm, play-based childcare in Bintulu</a:t>
            </a:r>
            <a:endParaRPr lang="en-US" sz="1200"/>
          </a:p>
        </p:txBody>
      </p:sp>
      <p:sp>
        <p:nvSpPr>
          <p:cNvPr id="30" name="Shape 28"/>
          <p:cNvSpPr/>
          <p:nvPr/>
        </p:nvSpPr>
        <p:spPr>
          <a:xfrm>
            <a:off x="8138160" y="3767328"/>
            <a:ext cx="1234440" cy="411480"/>
          </a:xfrm>
          <a:prstGeom prst="roundRect">
            <a:avLst>
              <a:gd name="adj" fmla="val 44444"/>
            </a:avLst>
          </a:prstGeom>
          <a:solidFill>
            <a:srgbClr val="C1502E"/>
          </a:solidFill>
          <a:ln w="12700">
            <a:solidFill>
              <a:srgbClr val="C15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1" name="Text 29"/>
          <p:cNvSpPr txBox="1"/>
          <p:nvPr/>
        </p:nvSpPr>
        <p:spPr>
          <a:xfrm>
            <a:off x="8138160" y="376732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BOOK A VISIT</a:t>
            </a:r>
            <a:endParaRPr lang="en-US" sz="900"/>
          </a:p>
        </p:txBody>
      </p:sp>
      <p:sp>
        <p:nvSpPr>
          <p:cNvPr id="32" name="Shape 30"/>
          <p:cNvSpPr/>
          <p:nvPr/>
        </p:nvSpPr>
        <p:spPr>
          <a:xfrm>
            <a:off x="9509760" y="3767328"/>
            <a:ext cx="1371600" cy="41148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2700">
            <a:solidFill>
              <a:srgbClr val="1F4D3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3" name="Text 31"/>
          <p:cNvSpPr txBox="1"/>
          <p:nvPr/>
        </p:nvSpPr>
        <p:spPr>
          <a:xfrm>
            <a:off x="9509760" y="376732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>
                <a:solidFill>
                  <a:srgbClr val="1F4D3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VIEW PROGRAMS</a:t>
            </a:r>
            <a:endParaRPr lang="en-US" sz="900"/>
          </a:p>
        </p:txBody>
      </p:sp>
      <p:sp>
        <p:nvSpPr>
          <p:cNvPr id="34" name="Shape 32"/>
          <p:cNvSpPr/>
          <p:nvPr/>
        </p:nvSpPr>
        <p:spPr>
          <a:xfrm>
            <a:off x="8138160" y="4526280"/>
            <a:ext cx="2971800" cy="0"/>
          </a:xfrm>
          <a:prstGeom prst="line">
            <a:avLst/>
          </a:prstGeom>
          <a:noFill/>
          <a:ln w="15240">
            <a:solidFill>
              <a:srgbClr val="F0E4D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SG"/>
          </a:p>
        </p:txBody>
      </p:sp>
      <p:sp>
        <p:nvSpPr>
          <p:cNvPr id="35" name="Text 33"/>
          <p:cNvSpPr txBox="1"/>
          <p:nvPr/>
        </p:nvSpPr>
        <p:spPr>
          <a:xfrm>
            <a:off x="8138160" y="46817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>
                <a:solidFill>
                  <a:srgbClr val="7B6F6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Infant &amp; Toddler   ·   Preschool   ·   Transit</a:t>
            </a:r>
            <a:endParaRPr lang="en-US" sz="1050"/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B6F68"/>
                </a:solidFill>
                <a:latin typeface="Arimo"/>
                <a:ea typeface="Arimo"/>
                <a:cs typeface="Arimo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  <p:pic>
        <p:nvPicPr>
          <p:cNvPr id="7" name="Header Logo Icon">
            <a:extLst>
              <a:ext uri="{FF2B5EF4-FFF2-40B4-BE49-F238E27FC236}">
                <a16:creationId xmlns:a16="http://schemas.microsoft.com/office/drawing/2014/main" id="{3BD1CF7D-B846-02BD-78DE-EB9FE933D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2468" y="1671066"/>
            <a:ext cx="523919" cy="5239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150">
                <a:solidFill>
                  <a:srgbClr val="C1502E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OPPORTUNITY</a:t>
            </a:r>
            <a:endParaRPr lang="en-US" sz="110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>
                <a:solidFill>
                  <a:srgbClr val="1F4D3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Turn information into parent confidence</a:t>
            </a:r>
            <a:endParaRPr lang="en-US" sz="2800"/>
          </a:p>
        </p:txBody>
      </p:sp>
      <p:sp>
        <p:nvSpPr>
          <p:cNvPr id="4" name="Text 2"/>
          <p:cNvSpPr txBox="1"/>
          <p:nvPr/>
        </p:nvSpPr>
        <p:spPr>
          <a:xfrm>
            <a:off x="566928" y="1408176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>
                <a:solidFill>
                  <a:srgbClr val="7B6F6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parent should not have to hunt for the basics before deciding whether to make contact</a:t>
            </a:r>
            <a:endParaRPr lang="en-US" sz="1600"/>
          </a:p>
        </p:txBody>
      </p:sp>
      <p:sp>
        <p:nvSpPr>
          <p:cNvPr id="5" name="Shape 3"/>
          <p:cNvSpPr/>
          <p:nvPr/>
        </p:nvSpPr>
        <p:spPr>
          <a:xfrm>
            <a:off x="658368" y="2139696"/>
            <a:ext cx="3401568" cy="2267712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E7E1D8"/>
            </a:solidFill>
            <a:prstDash val="solid"/>
          </a:ln>
          <a:effectLst>
            <a:outerShdw blurRad="90000" dist="20000" dir="5400000" rotWithShape="0">
              <a:srgbClr val="2B242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6" name="Text 4"/>
          <p:cNvSpPr txBox="1"/>
          <p:nvPr/>
        </p:nvSpPr>
        <p:spPr>
          <a:xfrm>
            <a:off x="841248" y="2340864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>
                <a:solidFill>
                  <a:srgbClr val="E8A33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01</a:t>
            </a:r>
            <a:endParaRPr lang="en-US" sz="1400"/>
          </a:p>
        </p:txBody>
      </p:sp>
      <p:sp>
        <p:nvSpPr>
          <p:cNvPr id="7" name="Text 5"/>
          <p:cNvSpPr txBox="1"/>
          <p:nvPr/>
        </p:nvSpPr>
        <p:spPr>
          <a:xfrm>
            <a:off x="859536" y="2779776"/>
            <a:ext cx="2907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>
                <a:solidFill>
                  <a:srgbClr val="2B242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“Is this right for my child?”</a:t>
            </a:r>
            <a:endParaRPr lang="en-US" sz="1700"/>
          </a:p>
        </p:txBody>
      </p:sp>
      <p:sp>
        <p:nvSpPr>
          <p:cNvPr id="8" name="Text 6"/>
          <p:cNvSpPr txBox="1"/>
          <p:nvPr/>
        </p:nvSpPr>
        <p:spPr>
          <a:xfrm>
            <a:off x="859536" y="3401568"/>
            <a:ext cx="2907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>
                <a:solidFill>
                  <a:srgbClr val="7B6F6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Make age groups and programmes immediately visible</a:t>
            </a:r>
            <a:endParaRPr lang="en-US" sz="1400"/>
          </a:p>
        </p:txBody>
      </p:sp>
      <p:sp>
        <p:nvSpPr>
          <p:cNvPr id="9" name="Shape 7"/>
          <p:cNvSpPr/>
          <p:nvPr/>
        </p:nvSpPr>
        <p:spPr>
          <a:xfrm>
            <a:off x="4425696" y="2139696"/>
            <a:ext cx="3401568" cy="2267712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E7E1D8"/>
            </a:solidFill>
            <a:prstDash val="solid"/>
          </a:ln>
          <a:effectLst>
            <a:outerShdw blurRad="90000" dist="20000" dir="5400000" rotWithShape="0">
              <a:srgbClr val="2B242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0" name="Text 8"/>
          <p:cNvSpPr txBox="1"/>
          <p:nvPr/>
        </p:nvSpPr>
        <p:spPr>
          <a:xfrm>
            <a:off x="4608576" y="2340864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>
                <a:solidFill>
                  <a:srgbClr val="1F4D3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02</a:t>
            </a:r>
            <a:endParaRPr lang="en-US" sz="1400"/>
          </a:p>
        </p:txBody>
      </p:sp>
      <p:sp>
        <p:nvSpPr>
          <p:cNvPr id="11" name="Text 9"/>
          <p:cNvSpPr txBox="1"/>
          <p:nvPr/>
        </p:nvSpPr>
        <p:spPr>
          <a:xfrm>
            <a:off x="4626864" y="2779776"/>
            <a:ext cx="2907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>
                <a:solidFill>
                  <a:srgbClr val="2B242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“Can I trust what I’m seeing?”</a:t>
            </a:r>
            <a:endParaRPr lang="en-US" sz="1700"/>
          </a:p>
        </p:txBody>
      </p:sp>
      <p:sp>
        <p:nvSpPr>
          <p:cNvPr id="12" name="Text 10"/>
          <p:cNvSpPr txBox="1"/>
          <p:nvPr/>
        </p:nvSpPr>
        <p:spPr>
          <a:xfrm>
            <a:off x="4626864" y="3401568"/>
            <a:ext cx="2907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>
                <a:solidFill>
                  <a:srgbClr val="7B6F6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Use real programme facts, curriculum and local identity — not generic childcare copy</a:t>
            </a:r>
            <a:endParaRPr lang="en-US" sz="1400"/>
          </a:p>
        </p:txBody>
      </p:sp>
      <p:sp>
        <p:nvSpPr>
          <p:cNvPr id="13" name="Shape 11"/>
          <p:cNvSpPr/>
          <p:nvPr/>
        </p:nvSpPr>
        <p:spPr>
          <a:xfrm>
            <a:off x="8193024" y="2139696"/>
            <a:ext cx="3401568" cy="2267712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2700">
            <a:solidFill>
              <a:srgbClr val="E7E1D8"/>
            </a:solidFill>
            <a:prstDash val="solid"/>
          </a:ln>
          <a:effectLst>
            <a:outerShdw blurRad="90000" dist="20000" dir="5400000" rotWithShape="0">
              <a:srgbClr val="2B242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4" name="Text 12"/>
          <p:cNvSpPr txBox="1"/>
          <p:nvPr/>
        </p:nvSpPr>
        <p:spPr>
          <a:xfrm>
            <a:off x="8375904" y="2340864"/>
            <a:ext cx="438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>
                <a:solidFill>
                  <a:srgbClr val="C1502E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03</a:t>
            </a:r>
            <a:endParaRPr lang="en-US" sz="1400"/>
          </a:p>
        </p:txBody>
      </p:sp>
      <p:sp>
        <p:nvSpPr>
          <p:cNvPr id="15" name="Text 13"/>
          <p:cNvSpPr txBox="1"/>
          <p:nvPr/>
        </p:nvSpPr>
        <p:spPr>
          <a:xfrm>
            <a:off x="8394192" y="2779776"/>
            <a:ext cx="2907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>
                <a:solidFill>
                  <a:srgbClr val="2B242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“What do I do next?”</a:t>
            </a:r>
            <a:endParaRPr lang="en-US" sz="1700"/>
          </a:p>
        </p:txBody>
      </p:sp>
      <p:sp>
        <p:nvSpPr>
          <p:cNvPr id="16" name="Text 14"/>
          <p:cNvSpPr txBox="1"/>
          <p:nvPr/>
        </p:nvSpPr>
        <p:spPr>
          <a:xfrm>
            <a:off x="8394192" y="3349317"/>
            <a:ext cx="2907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>
                <a:solidFill>
                  <a:srgbClr val="7B6F6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Give parents a simple path to visit, enquire and check availability</a:t>
            </a:r>
            <a:endParaRPr lang="en-US" sz="1400"/>
          </a:p>
        </p:txBody>
      </p:sp>
      <p:sp>
        <p:nvSpPr>
          <p:cNvPr id="17" name="Text 15"/>
          <p:cNvSpPr txBox="1"/>
          <p:nvPr/>
        </p:nvSpPr>
        <p:spPr>
          <a:xfrm>
            <a:off x="914400" y="50749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kern="0" spc="110">
                <a:solidFill>
                  <a:srgbClr val="1F4D3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DISCOVER</a:t>
            </a:r>
            <a:endParaRPr lang="en-US" sz="1400"/>
          </a:p>
        </p:txBody>
      </p:sp>
      <p:sp>
        <p:nvSpPr>
          <p:cNvPr id="18" name="Shape 16"/>
          <p:cNvSpPr/>
          <p:nvPr/>
        </p:nvSpPr>
        <p:spPr>
          <a:xfrm>
            <a:off x="2258568" y="5102352"/>
            <a:ext cx="402336" cy="237744"/>
          </a:xfrm>
          <a:prstGeom prst="chevron">
            <a:avLst/>
          </a:prstGeom>
          <a:solidFill>
            <a:srgbClr val="E8A33D"/>
          </a:solidFill>
          <a:ln w="12700">
            <a:solidFill>
              <a:srgbClr val="E8A3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Text 17"/>
          <p:cNvSpPr txBox="1"/>
          <p:nvPr/>
        </p:nvSpPr>
        <p:spPr>
          <a:xfrm>
            <a:off x="2788920" y="50749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kern="0" spc="110">
                <a:solidFill>
                  <a:srgbClr val="1F4D3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UNDERSTAND</a:t>
            </a:r>
            <a:endParaRPr lang="en-US" sz="1400"/>
          </a:p>
        </p:txBody>
      </p:sp>
      <p:sp>
        <p:nvSpPr>
          <p:cNvPr id="20" name="Shape 18"/>
          <p:cNvSpPr/>
          <p:nvPr/>
        </p:nvSpPr>
        <p:spPr>
          <a:xfrm>
            <a:off x="4370832" y="5102352"/>
            <a:ext cx="402336" cy="237744"/>
          </a:xfrm>
          <a:prstGeom prst="chevron">
            <a:avLst/>
          </a:prstGeom>
          <a:solidFill>
            <a:srgbClr val="E8A33D"/>
          </a:solidFill>
          <a:ln w="12700">
            <a:solidFill>
              <a:srgbClr val="E8A3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1" name="Text 19"/>
          <p:cNvSpPr txBox="1"/>
          <p:nvPr/>
        </p:nvSpPr>
        <p:spPr>
          <a:xfrm>
            <a:off x="4919472" y="50749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kern="0" spc="110">
                <a:solidFill>
                  <a:srgbClr val="1F4D3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TRUST</a:t>
            </a:r>
            <a:endParaRPr lang="en-US" sz="1400"/>
          </a:p>
        </p:txBody>
      </p:sp>
      <p:sp>
        <p:nvSpPr>
          <p:cNvPr id="22" name="Shape 20"/>
          <p:cNvSpPr/>
          <p:nvPr/>
        </p:nvSpPr>
        <p:spPr>
          <a:xfrm>
            <a:off x="6181344" y="5102352"/>
            <a:ext cx="402336" cy="237744"/>
          </a:xfrm>
          <a:prstGeom prst="chevron">
            <a:avLst/>
          </a:prstGeom>
          <a:solidFill>
            <a:srgbClr val="E8A33D"/>
          </a:solidFill>
          <a:ln w="12700">
            <a:solidFill>
              <a:srgbClr val="E8A3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" name="Text 21"/>
          <p:cNvSpPr txBox="1"/>
          <p:nvPr/>
        </p:nvSpPr>
        <p:spPr>
          <a:xfrm>
            <a:off x="6766560" y="50749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kern="0" spc="110">
                <a:solidFill>
                  <a:srgbClr val="1F4D3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ENQUIRE</a:t>
            </a:r>
            <a:endParaRPr lang="en-US" sz="1400"/>
          </a:p>
        </p:txBody>
      </p:sp>
      <p:sp>
        <p:nvSpPr>
          <p:cNvPr id="24" name="Shape 22"/>
          <p:cNvSpPr/>
          <p:nvPr/>
        </p:nvSpPr>
        <p:spPr>
          <a:xfrm>
            <a:off x="8540496" y="4800600"/>
            <a:ext cx="2926080" cy="868680"/>
          </a:xfrm>
          <a:prstGeom prst="roundRect">
            <a:avLst>
              <a:gd name="adj" fmla="val 18947"/>
            </a:avLst>
          </a:prstGeom>
          <a:solidFill>
            <a:srgbClr val="1F4D38"/>
          </a:solidFill>
          <a:ln w="12700">
            <a:solidFill>
              <a:srgbClr val="1F4D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Text 23"/>
          <p:cNvSpPr txBox="1"/>
          <p:nvPr/>
        </p:nvSpPr>
        <p:spPr>
          <a:xfrm>
            <a:off x="8735568" y="4992624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One simple parent journey</a:t>
            </a:r>
            <a:endParaRPr lang="en-US" sz="1400"/>
          </a:p>
        </p:txBody>
      </p:sp>
      <p:sp>
        <p:nvSpPr>
          <p:cNvPr id="26" name="Text 24"/>
          <p:cNvSpPr txBox="1"/>
          <p:nvPr/>
        </p:nvSpPr>
        <p:spPr>
          <a:xfrm>
            <a:off x="8698992" y="5248656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>
                <a:solidFill>
                  <a:srgbClr val="E9F0EC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from first visit to first enquiry</a:t>
            </a:r>
            <a:endParaRPr lang="en-US" sz="120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B6F68"/>
                </a:solidFill>
                <a:latin typeface="Arimo"/>
                <a:ea typeface="Arimo"/>
                <a:cs typeface="Arimo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150">
                <a:solidFill>
                  <a:srgbClr val="C1502E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WHAT WE BUILT</a:t>
            </a:r>
            <a:endParaRPr lang="en-US" sz="110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>
                <a:solidFill>
                  <a:srgbClr val="1F4D3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website designed around how parents decide</a:t>
            </a:r>
            <a:endParaRPr lang="en-US" sz="2800"/>
          </a:p>
        </p:txBody>
      </p:sp>
      <p:sp>
        <p:nvSpPr>
          <p:cNvPr id="4" name="Text 2"/>
          <p:cNvSpPr txBox="1"/>
          <p:nvPr/>
        </p:nvSpPr>
        <p:spPr>
          <a:xfrm>
            <a:off x="566928" y="1408176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>
                <a:solidFill>
                  <a:srgbClr val="7B6F6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Warm enough for a childcare brand. Structured enough to help a busy parent move quickly</a:t>
            </a:r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658368" y="1993392"/>
            <a:ext cx="7360920" cy="3886200"/>
          </a:xfrm>
          <a:prstGeom prst="roundRect">
            <a:avLst>
              <a:gd name="adj" fmla="val 4235"/>
            </a:avLst>
          </a:prstGeom>
          <a:solidFill>
            <a:srgbClr val="FFFFFF"/>
          </a:solidFill>
          <a:ln w="12700">
            <a:solidFill>
              <a:srgbClr val="D6CBC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658368" y="1993392"/>
            <a:ext cx="7360920" cy="365760"/>
          </a:xfrm>
          <a:prstGeom prst="rect">
            <a:avLst/>
          </a:prstGeom>
          <a:solidFill>
            <a:srgbClr val="FBF7F0"/>
          </a:solidFill>
          <a:ln w="8890">
            <a:solidFill>
              <a:srgbClr val="D6CBC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Shape 5"/>
          <p:cNvSpPr/>
          <p:nvPr/>
        </p:nvSpPr>
        <p:spPr>
          <a:xfrm>
            <a:off x="850392" y="2112264"/>
            <a:ext cx="73152" cy="73152"/>
          </a:xfrm>
          <a:prstGeom prst="ellipse">
            <a:avLst/>
          </a:prstGeom>
          <a:solidFill>
            <a:srgbClr val="D8A8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Shape 6"/>
          <p:cNvSpPr/>
          <p:nvPr/>
        </p:nvSpPr>
        <p:spPr>
          <a:xfrm>
            <a:off x="1014984" y="2112264"/>
            <a:ext cx="73152" cy="73152"/>
          </a:xfrm>
          <a:prstGeom prst="ellipse">
            <a:avLst/>
          </a:prstGeom>
          <a:solidFill>
            <a:srgbClr val="E8CC9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Shape 7"/>
          <p:cNvSpPr/>
          <p:nvPr/>
        </p:nvSpPr>
        <p:spPr>
          <a:xfrm>
            <a:off x="1179576" y="2112264"/>
            <a:ext cx="73152" cy="73152"/>
          </a:xfrm>
          <a:prstGeom prst="ellipse">
            <a:avLst/>
          </a:prstGeom>
          <a:solidFill>
            <a:srgbClr val="A9C2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Shape 8"/>
          <p:cNvSpPr/>
          <p:nvPr/>
        </p:nvSpPr>
        <p:spPr>
          <a:xfrm>
            <a:off x="914400" y="2542032"/>
            <a:ext cx="310896" cy="310896"/>
          </a:xfrm>
          <a:prstGeom prst="roundRect">
            <a:avLst>
              <a:gd name="adj" fmla="val 18000"/>
            </a:avLst>
          </a:prstGeom>
          <a:solidFill>
            <a:srgbClr val="1F4D38"/>
          </a:solidFill>
          <a:ln w="12700">
            <a:solidFill>
              <a:srgbClr val="1F4D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Shape 9"/>
          <p:cNvSpPr/>
          <p:nvPr/>
        </p:nvSpPr>
        <p:spPr>
          <a:xfrm rot="16200000">
            <a:off x="973470" y="2594884"/>
            <a:ext cx="192756" cy="105705"/>
          </a:xfrm>
          <a:prstGeom prst="chevron">
            <a:avLst/>
          </a:prstGeom>
          <a:solidFill>
            <a:srgbClr val="F7EFE1"/>
          </a:solidFill>
          <a:ln w="12700">
            <a:solidFill>
              <a:srgbClr val="F7EF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Shape 10"/>
          <p:cNvSpPr/>
          <p:nvPr/>
        </p:nvSpPr>
        <p:spPr>
          <a:xfrm>
            <a:off x="1007669" y="2672608"/>
            <a:ext cx="124358" cy="99487"/>
          </a:xfrm>
          <a:prstGeom prst="rect">
            <a:avLst/>
          </a:prstGeom>
          <a:solidFill>
            <a:srgbClr val="F7EFE1"/>
          </a:solidFill>
          <a:ln w="12700">
            <a:solidFill>
              <a:srgbClr val="F7EF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" name="Shape 11"/>
          <p:cNvSpPr/>
          <p:nvPr/>
        </p:nvSpPr>
        <p:spPr>
          <a:xfrm>
            <a:off x="1060521" y="2716134"/>
            <a:ext cx="24872" cy="55961"/>
          </a:xfrm>
          <a:prstGeom prst="rect">
            <a:avLst/>
          </a:prstGeom>
          <a:solidFill>
            <a:srgbClr val="1F4D38"/>
          </a:solidFill>
          <a:ln w="12700">
            <a:solidFill>
              <a:srgbClr val="1F4D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Text 12"/>
          <p:cNvSpPr txBox="1"/>
          <p:nvPr/>
        </p:nvSpPr>
        <p:spPr>
          <a:xfrm>
            <a:off x="1298448" y="257860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>
                <a:solidFill>
                  <a:srgbClr val="1F4D3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My Little House</a:t>
            </a:r>
            <a:endParaRPr lang="en-US" sz="950"/>
          </a:p>
        </p:txBody>
      </p:sp>
      <p:sp>
        <p:nvSpPr>
          <p:cNvPr id="15" name="Text 13"/>
          <p:cNvSpPr txBox="1"/>
          <p:nvPr/>
        </p:nvSpPr>
        <p:spPr>
          <a:xfrm>
            <a:off x="3840480" y="2578608"/>
            <a:ext cx="3611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50">
                <a:solidFill>
                  <a:srgbClr val="7B6F6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Home      About      Programs      Gallery      Contact</a:t>
            </a:r>
            <a:endParaRPr lang="en-US" sz="750"/>
          </a:p>
        </p:txBody>
      </p:sp>
      <p:sp>
        <p:nvSpPr>
          <p:cNvPr id="16" name="Shape 14"/>
          <p:cNvSpPr/>
          <p:nvPr/>
        </p:nvSpPr>
        <p:spPr>
          <a:xfrm>
            <a:off x="914400" y="2962656"/>
            <a:ext cx="6812280" cy="1463040"/>
          </a:xfrm>
          <a:prstGeom prst="roundRect">
            <a:avLst>
              <a:gd name="adj" fmla="val 7500"/>
            </a:avLst>
          </a:prstGeom>
          <a:solidFill>
            <a:srgbClr val="FFF9F1"/>
          </a:solidFill>
          <a:ln w="12700">
            <a:solidFill>
              <a:srgbClr val="FFF9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Text 15"/>
          <p:cNvSpPr txBox="1"/>
          <p:nvPr/>
        </p:nvSpPr>
        <p:spPr>
          <a:xfrm>
            <a:off x="1115568" y="3127248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80">
                <a:solidFill>
                  <a:srgbClr val="C1502E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NOW ENROLLING · BINTULU, SARAWAK</a:t>
            </a:r>
            <a:endParaRPr lang="en-US" sz="900"/>
          </a:p>
        </p:txBody>
      </p:sp>
      <p:sp>
        <p:nvSpPr>
          <p:cNvPr id="18" name="Text 16"/>
          <p:cNvSpPr txBox="1"/>
          <p:nvPr/>
        </p:nvSpPr>
        <p:spPr>
          <a:xfrm>
            <a:off x="1097280" y="3374136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>
                <a:solidFill>
                  <a:srgbClr val="1F4D3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Rooted in Sarawak,</a:t>
            </a:r>
            <a:endParaRPr lang="en-US" sz="180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800" b="1">
                <a:solidFill>
                  <a:srgbClr val="1F4D3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growing every child.</a:t>
            </a:r>
            <a:endParaRPr lang="en-US" sz="1800"/>
          </a:p>
        </p:txBody>
      </p:sp>
      <p:sp>
        <p:nvSpPr>
          <p:cNvPr id="19" name="Text 17"/>
          <p:cNvSpPr txBox="1"/>
          <p:nvPr/>
        </p:nvSpPr>
        <p:spPr>
          <a:xfrm>
            <a:off x="1097280" y="407822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>
                <a:solidFill>
                  <a:srgbClr val="7B6F6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Play-based learning for ages 3 months to 9 years</a:t>
            </a:r>
            <a:r>
              <a:rPr lang="en-US" sz="950">
                <a:solidFill>
                  <a:srgbClr val="7B6F6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</a:t>
            </a:r>
            <a:endParaRPr lang="en-US" sz="950"/>
          </a:p>
        </p:txBody>
      </p:sp>
      <p:sp>
        <p:nvSpPr>
          <p:cNvPr id="20" name="Shape 18"/>
          <p:cNvSpPr/>
          <p:nvPr/>
        </p:nvSpPr>
        <p:spPr>
          <a:xfrm>
            <a:off x="5230368" y="3355848"/>
            <a:ext cx="1078992" cy="384048"/>
          </a:xfrm>
          <a:prstGeom prst="roundRect">
            <a:avLst>
              <a:gd name="adj" fmla="val 42857"/>
            </a:avLst>
          </a:prstGeom>
          <a:solidFill>
            <a:srgbClr val="C1502E"/>
          </a:solidFill>
          <a:ln w="12700">
            <a:solidFill>
              <a:srgbClr val="C150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1" name="Text 19"/>
          <p:cNvSpPr txBox="1"/>
          <p:nvPr/>
        </p:nvSpPr>
        <p:spPr>
          <a:xfrm>
            <a:off x="5230368" y="3355848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b="1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BOOK A VISIT</a:t>
            </a:r>
            <a:endParaRPr lang="en-US" sz="800"/>
          </a:p>
        </p:txBody>
      </p:sp>
      <p:sp>
        <p:nvSpPr>
          <p:cNvPr id="22" name="Shape 20"/>
          <p:cNvSpPr/>
          <p:nvPr/>
        </p:nvSpPr>
        <p:spPr>
          <a:xfrm>
            <a:off x="6419088" y="3355848"/>
            <a:ext cx="1078992" cy="384048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1F4D3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" name="Text 21"/>
          <p:cNvSpPr txBox="1"/>
          <p:nvPr/>
        </p:nvSpPr>
        <p:spPr>
          <a:xfrm>
            <a:off x="6419088" y="3355848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b="1">
                <a:solidFill>
                  <a:srgbClr val="1F4D3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PROGRAMS</a:t>
            </a:r>
            <a:endParaRPr lang="en-US" sz="800"/>
          </a:p>
        </p:txBody>
      </p:sp>
      <p:sp>
        <p:nvSpPr>
          <p:cNvPr id="24" name="Shape 22"/>
          <p:cNvSpPr/>
          <p:nvPr/>
        </p:nvSpPr>
        <p:spPr>
          <a:xfrm>
            <a:off x="960120" y="4645152"/>
            <a:ext cx="1481328" cy="822960"/>
          </a:xfrm>
          <a:prstGeom prst="roundRect">
            <a:avLst>
              <a:gd name="adj" fmla="val 13333"/>
            </a:avLst>
          </a:prstGeom>
          <a:solidFill>
            <a:srgbClr val="F7E3B8"/>
          </a:solidFill>
          <a:ln w="12700">
            <a:solidFill>
              <a:srgbClr val="F7E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Text 23"/>
          <p:cNvSpPr txBox="1"/>
          <p:nvPr/>
        </p:nvSpPr>
        <p:spPr>
          <a:xfrm>
            <a:off x="1069848" y="4773168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>
                <a:solidFill>
                  <a:srgbClr val="2B242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Infant &amp; Toddler</a:t>
            </a:r>
            <a:endParaRPr lang="en-US" sz="1000"/>
          </a:p>
        </p:txBody>
      </p:sp>
      <p:sp>
        <p:nvSpPr>
          <p:cNvPr id="26" name="Text 24"/>
          <p:cNvSpPr txBox="1"/>
          <p:nvPr/>
        </p:nvSpPr>
        <p:spPr>
          <a:xfrm>
            <a:off x="1069848" y="5047488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>
                <a:solidFill>
                  <a:srgbClr val="7B6F6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3 - 24 months</a:t>
            </a:r>
            <a:endParaRPr lang="en-US" sz="900"/>
          </a:p>
        </p:txBody>
      </p:sp>
      <p:sp>
        <p:nvSpPr>
          <p:cNvPr id="27" name="Shape 25"/>
          <p:cNvSpPr/>
          <p:nvPr/>
        </p:nvSpPr>
        <p:spPr>
          <a:xfrm>
            <a:off x="2624328" y="4645152"/>
            <a:ext cx="1481328" cy="822960"/>
          </a:xfrm>
          <a:prstGeom prst="roundRect">
            <a:avLst>
              <a:gd name="adj" fmla="val 13333"/>
            </a:avLst>
          </a:prstGeom>
          <a:solidFill>
            <a:srgbClr val="DCE7DF"/>
          </a:solidFill>
          <a:ln w="12700">
            <a:solidFill>
              <a:srgbClr val="DCE7D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8" name="Text 26"/>
          <p:cNvSpPr txBox="1"/>
          <p:nvPr/>
        </p:nvSpPr>
        <p:spPr>
          <a:xfrm>
            <a:off x="2734056" y="4773168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>
                <a:solidFill>
                  <a:srgbClr val="2B242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Preschool</a:t>
            </a:r>
            <a:endParaRPr lang="en-US" sz="1000"/>
          </a:p>
        </p:txBody>
      </p:sp>
      <p:sp>
        <p:nvSpPr>
          <p:cNvPr id="29" name="Text 27"/>
          <p:cNvSpPr txBox="1"/>
          <p:nvPr/>
        </p:nvSpPr>
        <p:spPr>
          <a:xfrm>
            <a:off x="2734056" y="5047488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>
                <a:solidFill>
                  <a:srgbClr val="7B6F6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3 - 6 years</a:t>
            </a:r>
            <a:endParaRPr lang="en-US" sz="900"/>
          </a:p>
        </p:txBody>
      </p:sp>
      <p:sp>
        <p:nvSpPr>
          <p:cNvPr id="30" name="Shape 28"/>
          <p:cNvSpPr/>
          <p:nvPr/>
        </p:nvSpPr>
        <p:spPr>
          <a:xfrm>
            <a:off x="4288536" y="4645152"/>
            <a:ext cx="1481328" cy="822960"/>
          </a:xfrm>
          <a:prstGeom prst="roundRect">
            <a:avLst>
              <a:gd name="adj" fmla="val 13333"/>
            </a:avLst>
          </a:prstGeom>
          <a:solidFill>
            <a:srgbClr val="F1D6CC"/>
          </a:solidFill>
          <a:ln w="12700">
            <a:solidFill>
              <a:srgbClr val="F1D6C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1" name="Text 29"/>
          <p:cNvSpPr txBox="1"/>
          <p:nvPr/>
        </p:nvSpPr>
        <p:spPr>
          <a:xfrm>
            <a:off x="4398264" y="4773168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>
                <a:solidFill>
                  <a:srgbClr val="2B242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Transit Care</a:t>
            </a:r>
            <a:endParaRPr lang="en-US" sz="1000"/>
          </a:p>
        </p:txBody>
      </p:sp>
      <p:sp>
        <p:nvSpPr>
          <p:cNvPr id="32" name="Text 30"/>
          <p:cNvSpPr txBox="1"/>
          <p:nvPr/>
        </p:nvSpPr>
        <p:spPr>
          <a:xfrm>
            <a:off x="4381935" y="5047488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>
                <a:solidFill>
                  <a:srgbClr val="7B6F6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7 - 9 years</a:t>
            </a:r>
            <a:endParaRPr lang="en-US" sz="900"/>
          </a:p>
        </p:txBody>
      </p:sp>
      <p:sp>
        <p:nvSpPr>
          <p:cNvPr id="33" name="Shape 31"/>
          <p:cNvSpPr/>
          <p:nvPr/>
        </p:nvSpPr>
        <p:spPr>
          <a:xfrm>
            <a:off x="5952744" y="4645152"/>
            <a:ext cx="1481328" cy="822960"/>
          </a:xfrm>
          <a:prstGeom prst="roundRect">
            <a:avLst>
              <a:gd name="adj" fmla="val 13333"/>
            </a:avLst>
          </a:prstGeom>
          <a:solidFill>
            <a:srgbClr val="E8E2D6"/>
          </a:solidFill>
          <a:ln w="12700">
            <a:solidFill>
              <a:srgbClr val="E8E2D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4" name="Text 32"/>
          <p:cNvSpPr txBox="1"/>
          <p:nvPr/>
        </p:nvSpPr>
        <p:spPr>
          <a:xfrm>
            <a:off x="6062472" y="4773168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>
                <a:solidFill>
                  <a:srgbClr val="2B242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Inclusive</a:t>
            </a:r>
            <a:endParaRPr lang="en-US" sz="1000"/>
          </a:p>
        </p:txBody>
      </p:sp>
      <p:sp>
        <p:nvSpPr>
          <p:cNvPr id="35" name="Text 33"/>
          <p:cNvSpPr txBox="1"/>
          <p:nvPr/>
        </p:nvSpPr>
        <p:spPr>
          <a:xfrm>
            <a:off x="6062472" y="5047488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>
                <a:solidFill>
                  <a:srgbClr val="7B6F6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Early intervention</a:t>
            </a:r>
            <a:endParaRPr lang="en-US" sz="900"/>
          </a:p>
        </p:txBody>
      </p:sp>
      <p:sp>
        <p:nvSpPr>
          <p:cNvPr id="36" name="Shape 34"/>
          <p:cNvSpPr/>
          <p:nvPr/>
        </p:nvSpPr>
        <p:spPr>
          <a:xfrm>
            <a:off x="8485632" y="2084832"/>
            <a:ext cx="292608" cy="29260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7" name="Text 35"/>
          <p:cNvSpPr txBox="1"/>
          <p:nvPr/>
        </p:nvSpPr>
        <p:spPr>
          <a:xfrm>
            <a:off x="8485632" y="20848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</a:t>
            </a:r>
            <a:endParaRPr lang="en-US" sz="1000"/>
          </a:p>
        </p:txBody>
      </p:sp>
      <p:sp>
        <p:nvSpPr>
          <p:cNvPr id="38" name="Text 36"/>
          <p:cNvSpPr txBox="1"/>
          <p:nvPr/>
        </p:nvSpPr>
        <p:spPr>
          <a:xfrm>
            <a:off x="8924544" y="2039112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>
                <a:solidFill>
                  <a:srgbClr val="2B242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Immediate fit</a:t>
            </a:r>
            <a:endParaRPr lang="en-US" sz="1400"/>
          </a:p>
        </p:txBody>
      </p:sp>
      <p:sp>
        <p:nvSpPr>
          <p:cNvPr id="39" name="Text 37"/>
          <p:cNvSpPr txBox="1"/>
          <p:nvPr/>
        </p:nvSpPr>
        <p:spPr>
          <a:xfrm>
            <a:off x="8924544" y="2313432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>
                <a:solidFill>
                  <a:srgbClr val="7B6F6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Age range + location are visible above the fold</a:t>
            </a:r>
            <a:endParaRPr lang="en-US" sz="1200"/>
          </a:p>
        </p:txBody>
      </p:sp>
      <p:sp>
        <p:nvSpPr>
          <p:cNvPr id="40" name="Shape 38"/>
          <p:cNvSpPr/>
          <p:nvPr/>
        </p:nvSpPr>
        <p:spPr>
          <a:xfrm>
            <a:off x="8485632" y="3026664"/>
            <a:ext cx="292608" cy="292608"/>
          </a:xfrm>
          <a:prstGeom prst="ellipse">
            <a:avLst/>
          </a:prstGeom>
          <a:solidFill>
            <a:srgbClr val="1F4D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1" name="Text 39"/>
          <p:cNvSpPr txBox="1"/>
          <p:nvPr/>
        </p:nvSpPr>
        <p:spPr>
          <a:xfrm>
            <a:off x="8485632" y="3026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</a:t>
            </a:r>
            <a:endParaRPr lang="en-US" sz="1000"/>
          </a:p>
        </p:txBody>
      </p:sp>
      <p:sp>
        <p:nvSpPr>
          <p:cNvPr id="42" name="Text 40"/>
          <p:cNvSpPr txBox="1"/>
          <p:nvPr/>
        </p:nvSpPr>
        <p:spPr>
          <a:xfrm>
            <a:off x="8924544" y="2980944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>
                <a:solidFill>
                  <a:srgbClr val="2B242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Real programme detail</a:t>
            </a:r>
            <a:endParaRPr lang="en-US" sz="1400"/>
          </a:p>
        </p:txBody>
      </p:sp>
      <p:sp>
        <p:nvSpPr>
          <p:cNvPr id="43" name="Text 41"/>
          <p:cNvSpPr txBox="1"/>
          <p:nvPr/>
        </p:nvSpPr>
        <p:spPr>
          <a:xfrm>
            <a:off x="8924544" y="3255264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>
                <a:solidFill>
                  <a:srgbClr val="7B6F6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Programmes, curriculum and 1:3 infant ratio are surfaced clearly</a:t>
            </a:r>
            <a:endParaRPr lang="en-US" sz="1200"/>
          </a:p>
        </p:txBody>
      </p:sp>
      <p:sp>
        <p:nvSpPr>
          <p:cNvPr id="44" name="Shape 42"/>
          <p:cNvSpPr/>
          <p:nvPr/>
        </p:nvSpPr>
        <p:spPr>
          <a:xfrm>
            <a:off x="8485632" y="3968496"/>
            <a:ext cx="292608" cy="292608"/>
          </a:xfrm>
          <a:prstGeom prst="ellipse">
            <a:avLst/>
          </a:prstGeom>
          <a:solidFill>
            <a:srgbClr val="C150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5" name="Text 43"/>
          <p:cNvSpPr txBox="1"/>
          <p:nvPr/>
        </p:nvSpPr>
        <p:spPr>
          <a:xfrm>
            <a:off x="8485632" y="3968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</a:t>
            </a:r>
            <a:endParaRPr lang="en-US" sz="1000"/>
          </a:p>
        </p:txBody>
      </p:sp>
      <p:sp>
        <p:nvSpPr>
          <p:cNvPr id="46" name="Text 44"/>
          <p:cNvSpPr txBox="1"/>
          <p:nvPr/>
        </p:nvSpPr>
        <p:spPr>
          <a:xfrm>
            <a:off x="8924544" y="392277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>
                <a:solidFill>
                  <a:srgbClr val="2B242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Local identity</a:t>
            </a:r>
            <a:endParaRPr lang="en-US" sz="1400"/>
          </a:p>
        </p:txBody>
      </p:sp>
      <p:sp>
        <p:nvSpPr>
          <p:cNvPr id="47" name="Text 45"/>
          <p:cNvSpPr txBox="1"/>
          <p:nvPr/>
        </p:nvSpPr>
        <p:spPr>
          <a:xfrm>
            <a:off x="8924544" y="4197096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>
                <a:solidFill>
                  <a:srgbClr val="7B6F6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“Rooted in Sarawak” gives the site a distinctive sense of place</a:t>
            </a:r>
            <a:endParaRPr lang="en-US" sz="1200"/>
          </a:p>
        </p:txBody>
      </p:sp>
      <p:sp>
        <p:nvSpPr>
          <p:cNvPr id="48" name="Shape 46"/>
          <p:cNvSpPr/>
          <p:nvPr/>
        </p:nvSpPr>
        <p:spPr>
          <a:xfrm>
            <a:off x="8485632" y="4910328"/>
            <a:ext cx="292608" cy="292608"/>
          </a:xfrm>
          <a:prstGeom prst="ellipse">
            <a:avLst/>
          </a:prstGeom>
          <a:solidFill>
            <a:srgbClr val="2B24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9" name="Text 47"/>
          <p:cNvSpPr txBox="1"/>
          <p:nvPr/>
        </p:nvSpPr>
        <p:spPr>
          <a:xfrm>
            <a:off x="8485632" y="4910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4</a:t>
            </a:r>
            <a:endParaRPr lang="en-US" sz="1000"/>
          </a:p>
        </p:txBody>
      </p:sp>
      <p:sp>
        <p:nvSpPr>
          <p:cNvPr id="50" name="Text 48"/>
          <p:cNvSpPr txBox="1"/>
          <p:nvPr/>
        </p:nvSpPr>
        <p:spPr>
          <a:xfrm>
            <a:off x="8924544" y="4864608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>
                <a:solidFill>
                  <a:srgbClr val="2B242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Clear next step</a:t>
            </a:r>
            <a:endParaRPr lang="en-US" sz="1400"/>
          </a:p>
        </p:txBody>
      </p:sp>
      <p:sp>
        <p:nvSpPr>
          <p:cNvPr id="51" name="Text 49"/>
          <p:cNvSpPr txBox="1"/>
          <p:nvPr/>
        </p:nvSpPr>
        <p:spPr>
          <a:xfrm>
            <a:off x="8924544" y="5138928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>
                <a:solidFill>
                  <a:srgbClr val="7B6F6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Visit and programme actions are prominent, not buried</a:t>
            </a:r>
            <a:endParaRPr lang="en-US" sz="1200"/>
          </a:p>
        </p:txBody>
      </p:sp>
      <p:sp>
        <p:nvSpPr>
          <p:cNvPr id="5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B6F68"/>
                </a:solidFill>
                <a:latin typeface="Arimo"/>
                <a:ea typeface="Arimo"/>
                <a:cs typeface="Arimo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3">
            <a:extLst>
              <a:ext uri="{FF2B5EF4-FFF2-40B4-BE49-F238E27FC236}">
                <a16:creationId xmlns:a16="http://schemas.microsoft.com/office/drawing/2014/main" id="{14C467B4-1EB5-0939-A15B-C741D6FEF5EB}"/>
              </a:ext>
            </a:extLst>
          </p:cNvPr>
          <p:cNvSpPr/>
          <p:nvPr/>
        </p:nvSpPr>
        <p:spPr>
          <a:xfrm>
            <a:off x="6193971" y="1554480"/>
            <a:ext cx="5219700" cy="4142232"/>
          </a:xfrm>
          <a:prstGeom prst="roundRect">
            <a:avLst>
              <a:gd name="adj" fmla="val 1758"/>
            </a:avLst>
          </a:prstGeom>
          <a:solidFill>
            <a:srgbClr val="DCE7DF"/>
          </a:solidFill>
          <a:ln w="12700">
            <a:solidFill>
              <a:srgbClr val="A9C2B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" name="Text 0"/>
          <p:cNvSpPr txBox="1"/>
          <p:nvPr/>
        </p:nvSpPr>
        <p:spPr>
          <a:xfrm>
            <a:off x="457200" y="2926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C1502E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TRANSFORMATION</a:t>
            </a:r>
            <a:endParaRPr lang="en-US" sz="120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2B242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From slide deck to digital front door</a:t>
            </a:r>
            <a:endParaRPr lang="en-US" sz="260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7B6F6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Same centre, same warmth. What changed is how clearly a parent can act on it.</a:t>
            </a:r>
            <a:endParaRPr lang="en-US" sz="1300"/>
          </a:p>
        </p:txBody>
      </p:sp>
      <p:sp>
        <p:nvSpPr>
          <p:cNvPr id="5" name="Shape 3"/>
          <p:cNvSpPr/>
          <p:nvPr/>
        </p:nvSpPr>
        <p:spPr>
          <a:xfrm>
            <a:off x="457200" y="1536192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DCE7DF"/>
          </a:solidFill>
          <a:ln w="12700">
            <a:solidFill>
              <a:srgbClr val="A9C2B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685800" y="173736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7" name="Text 5"/>
          <p:cNvSpPr txBox="1"/>
          <p:nvPr/>
        </p:nvSpPr>
        <p:spPr>
          <a:xfrm>
            <a:off x="685800" y="173736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7B6F6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BEFORE</a:t>
            </a:r>
            <a:endParaRPr lang="en-US" sz="1250"/>
          </a:p>
        </p:txBody>
      </p:sp>
      <p:pic>
        <p:nvPicPr>
          <p:cNvPr id="8" name="Image 0" descr="/home/claude/work/imgs/before_hom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2194560"/>
            <a:ext cx="4617720" cy="32278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85800" y="2194560"/>
            <a:ext cx="4617720" cy="3227832"/>
          </a:xfrm>
          <a:prstGeom prst="roundRect">
            <a:avLst>
              <a:gd name="adj" fmla="val 850"/>
            </a:avLst>
          </a:prstGeom>
          <a:ln w="12700">
            <a:solidFill>
              <a:srgbClr val="7B6F6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Text 7"/>
          <p:cNvSpPr txBox="1"/>
          <p:nvPr/>
        </p:nvSpPr>
        <p:spPr>
          <a:xfrm>
            <a:off x="685800" y="567842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7B6F6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slide export, not a website — no menu, no clear next step for a parent</a:t>
            </a:r>
            <a:endParaRPr lang="en-US" sz="1100"/>
          </a:p>
        </p:txBody>
      </p:sp>
      <p:sp>
        <p:nvSpPr>
          <p:cNvPr id="12" name="Shape 9"/>
          <p:cNvSpPr/>
          <p:nvPr/>
        </p:nvSpPr>
        <p:spPr>
          <a:xfrm>
            <a:off x="6309360" y="1643634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C1502E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3" name="Text 10"/>
          <p:cNvSpPr txBox="1"/>
          <p:nvPr/>
        </p:nvSpPr>
        <p:spPr>
          <a:xfrm>
            <a:off x="6309360" y="161848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AFTER</a:t>
            </a:r>
            <a:endParaRPr lang="en-US" sz="1250"/>
          </a:p>
        </p:txBody>
      </p:sp>
      <p:sp>
        <p:nvSpPr>
          <p:cNvPr id="43" name="Text 40"/>
          <p:cNvSpPr txBox="1"/>
          <p:nvPr/>
        </p:nvSpPr>
        <p:spPr>
          <a:xfrm>
            <a:off x="6126480" y="567842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F0E4D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real website — clear menu, warm local story, one obvious next step</a:t>
            </a:r>
            <a:endParaRPr lang="en-US" sz="1100"/>
          </a:p>
        </p:txBody>
      </p:sp>
      <p:sp>
        <p:nvSpPr>
          <p:cNvPr id="44" name="Text 41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7B6F6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3a</a:t>
            </a:r>
            <a:endParaRPr lang="en-US" sz="110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89D4B594-298E-AC0C-1541-0FAB98D3ED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6040" y="2029678"/>
            <a:ext cx="4803320" cy="361674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kern="0" spc="150">
                <a:solidFill>
                  <a:srgbClr val="C1502E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EXPERIENCE</a:t>
            </a:r>
            <a:endParaRPr lang="en-US" sz="120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>
                <a:solidFill>
                  <a:srgbClr val="1F4D3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Five pages. One simple journey.</a:t>
            </a:r>
            <a:endParaRPr lang="en-US" sz="2800"/>
          </a:p>
        </p:txBody>
      </p:sp>
      <p:sp>
        <p:nvSpPr>
          <p:cNvPr id="4" name="Text 2"/>
          <p:cNvSpPr txBox="1"/>
          <p:nvPr/>
        </p:nvSpPr>
        <p:spPr>
          <a:xfrm>
            <a:off x="566928" y="1408176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>
                <a:solidFill>
                  <a:srgbClr val="7B6F6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Each page has a job — no filler, no dead-end content</a:t>
            </a:r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658368" y="2194560"/>
            <a:ext cx="1975104" cy="25877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822960" y="2395728"/>
            <a:ext cx="1645920" cy="420624"/>
          </a:xfrm>
          <a:prstGeom prst="roundRect">
            <a:avLst>
              <a:gd name="adj" fmla="val 34783"/>
            </a:avLst>
          </a:prstGeom>
          <a:noFill/>
          <a:ln w="15875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Text 5"/>
          <p:cNvSpPr txBox="1"/>
          <p:nvPr/>
        </p:nvSpPr>
        <p:spPr>
          <a:xfrm>
            <a:off x="822960" y="239572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kern="0" spc="100">
                <a:solidFill>
                  <a:srgbClr val="E8A33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HOME</a:t>
            </a:r>
            <a:endParaRPr lang="en-US" sz="1000"/>
          </a:p>
        </p:txBody>
      </p:sp>
      <p:sp>
        <p:nvSpPr>
          <p:cNvPr id="8" name="Text 6"/>
          <p:cNvSpPr txBox="1"/>
          <p:nvPr/>
        </p:nvSpPr>
        <p:spPr>
          <a:xfrm>
            <a:off x="841248" y="3054096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B242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Orient</a:t>
            </a:r>
            <a:endParaRPr lang="en-US" sz="1800"/>
          </a:p>
        </p:txBody>
      </p:sp>
      <p:sp>
        <p:nvSpPr>
          <p:cNvPr id="9" name="Text 7"/>
          <p:cNvSpPr txBox="1"/>
          <p:nvPr/>
        </p:nvSpPr>
        <p:spPr>
          <a:xfrm>
            <a:off x="859536" y="3557016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>
                <a:solidFill>
                  <a:srgbClr val="7B6F6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Who we are</a:t>
            </a:r>
            <a:endParaRPr lang="en-US" sz="115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>
                <a:solidFill>
                  <a:srgbClr val="7B6F6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What we offer</a:t>
            </a:r>
            <a:endParaRPr lang="en-US" sz="1150"/>
          </a:p>
        </p:txBody>
      </p:sp>
      <p:sp>
        <p:nvSpPr>
          <p:cNvPr id="10" name="Shape 8"/>
          <p:cNvSpPr/>
          <p:nvPr/>
        </p:nvSpPr>
        <p:spPr>
          <a:xfrm>
            <a:off x="2660904" y="3255264"/>
            <a:ext cx="256032" cy="402336"/>
          </a:xfrm>
          <a:prstGeom prst="chevron">
            <a:avLst/>
          </a:prstGeom>
          <a:solidFill>
            <a:srgbClr val="D4C8BE"/>
          </a:solidFill>
          <a:ln w="12700">
            <a:solidFill>
              <a:srgbClr val="D4C8B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Shape 9"/>
          <p:cNvSpPr/>
          <p:nvPr/>
        </p:nvSpPr>
        <p:spPr>
          <a:xfrm>
            <a:off x="2907792" y="2194560"/>
            <a:ext cx="1975104" cy="25877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Shape 10"/>
          <p:cNvSpPr/>
          <p:nvPr/>
        </p:nvSpPr>
        <p:spPr>
          <a:xfrm>
            <a:off x="3072384" y="2395728"/>
            <a:ext cx="1645920" cy="420624"/>
          </a:xfrm>
          <a:prstGeom prst="roundRect">
            <a:avLst>
              <a:gd name="adj" fmla="val 34783"/>
            </a:avLst>
          </a:prstGeom>
          <a:noFill/>
          <a:ln w="15875">
            <a:solidFill>
              <a:srgbClr val="1F4D38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" name="Text 11"/>
          <p:cNvSpPr txBox="1"/>
          <p:nvPr/>
        </p:nvSpPr>
        <p:spPr>
          <a:xfrm>
            <a:off x="3072384" y="239572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kern="0" spc="100">
                <a:solidFill>
                  <a:srgbClr val="1F4D3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PROGRAMS</a:t>
            </a:r>
            <a:endParaRPr lang="en-US" sz="1000"/>
          </a:p>
        </p:txBody>
      </p:sp>
      <p:sp>
        <p:nvSpPr>
          <p:cNvPr id="14" name="Text 12"/>
          <p:cNvSpPr txBox="1"/>
          <p:nvPr/>
        </p:nvSpPr>
        <p:spPr>
          <a:xfrm>
            <a:off x="3090672" y="3054096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B242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Match</a:t>
            </a:r>
            <a:endParaRPr lang="en-US" sz="1800"/>
          </a:p>
        </p:txBody>
      </p:sp>
      <p:sp>
        <p:nvSpPr>
          <p:cNvPr id="15" name="Text 13"/>
          <p:cNvSpPr txBox="1"/>
          <p:nvPr/>
        </p:nvSpPr>
        <p:spPr>
          <a:xfrm>
            <a:off x="3108960" y="3557016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>
                <a:solidFill>
                  <a:srgbClr val="7B6F6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Ages, care types</a:t>
            </a:r>
            <a:endParaRPr lang="en-US" sz="115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>
                <a:solidFill>
                  <a:srgbClr val="7B6F6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Curriculum</a:t>
            </a:r>
            <a:endParaRPr lang="en-US" sz="1150"/>
          </a:p>
        </p:txBody>
      </p:sp>
      <p:sp>
        <p:nvSpPr>
          <p:cNvPr id="16" name="Shape 14"/>
          <p:cNvSpPr/>
          <p:nvPr/>
        </p:nvSpPr>
        <p:spPr>
          <a:xfrm>
            <a:off x="4910328" y="3255264"/>
            <a:ext cx="256032" cy="402336"/>
          </a:xfrm>
          <a:prstGeom prst="chevron">
            <a:avLst/>
          </a:prstGeom>
          <a:solidFill>
            <a:srgbClr val="D4C8BE"/>
          </a:solidFill>
          <a:ln w="12700">
            <a:solidFill>
              <a:srgbClr val="D4C8B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Shape 15"/>
          <p:cNvSpPr/>
          <p:nvPr/>
        </p:nvSpPr>
        <p:spPr>
          <a:xfrm>
            <a:off x="5157216" y="2194560"/>
            <a:ext cx="1975104" cy="25877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8" name="Shape 16"/>
          <p:cNvSpPr/>
          <p:nvPr/>
        </p:nvSpPr>
        <p:spPr>
          <a:xfrm>
            <a:off x="5321808" y="2395728"/>
            <a:ext cx="1645920" cy="420624"/>
          </a:xfrm>
          <a:prstGeom prst="roundRect">
            <a:avLst>
              <a:gd name="adj" fmla="val 34783"/>
            </a:avLst>
          </a:prstGeom>
          <a:noFill/>
          <a:ln w="15875">
            <a:solidFill>
              <a:srgbClr val="C1502E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Text 17"/>
          <p:cNvSpPr txBox="1"/>
          <p:nvPr/>
        </p:nvSpPr>
        <p:spPr>
          <a:xfrm>
            <a:off x="5321808" y="239572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kern="0" spc="100">
                <a:solidFill>
                  <a:srgbClr val="C1502E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ABOUT</a:t>
            </a:r>
            <a:endParaRPr lang="en-US" sz="1000"/>
          </a:p>
        </p:txBody>
      </p:sp>
      <p:sp>
        <p:nvSpPr>
          <p:cNvPr id="20" name="Text 18"/>
          <p:cNvSpPr txBox="1"/>
          <p:nvPr/>
        </p:nvSpPr>
        <p:spPr>
          <a:xfrm>
            <a:off x="5340096" y="3054096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B242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Reassure</a:t>
            </a:r>
            <a:endParaRPr lang="en-US" sz="1800"/>
          </a:p>
        </p:txBody>
      </p:sp>
      <p:sp>
        <p:nvSpPr>
          <p:cNvPr id="21" name="Text 19"/>
          <p:cNvSpPr txBox="1"/>
          <p:nvPr/>
        </p:nvSpPr>
        <p:spPr>
          <a:xfrm>
            <a:off x="5358384" y="3557016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>
                <a:solidFill>
                  <a:srgbClr val="7B6F6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Story, founder</a:t>
            </a:r>
            <a:endParaRPr lang="en-US" sz="115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>
                <a:solidFill>
                  <a:srgbClr val="7B6F6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Care philosophy</a:t>
            </a:r>
            <a:endParaRPr lang="en-US" sz="1150"/>
          </a:p>
        </p:txBody>
      </p:sp>
      <p:sp>
        <p:nvSpPr>
          <p:cNvPr id="22" name="Shape 20"/>
          <p:cNvSpPr/>
          <p:nvPr/>
        </p:nvSpPr>
        <p:spPr>
          <a:xfrm>
            <a:off x="7159752" y="3255264"/>
            <a:ext cx="256032" cy="402336"/>
          </a:xfrm>
          <a:prstGeom prst="chevron">
            <a:avLst/>
          </a:prstGeom>
          <a:solidFill>
            <a:srgbClr val="D4C8BE"/>
          </a:solidFill>
          <a:ln w="12700">
            <a:solidFill>
              <a:srgbClr val="D4C8B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" name="Shape 21"/>
          <p:cNvSpPr/>
          <p:nvPr/>
        </p:nvSpPr>
        <p:spPr>
          <a:xfrm>
            <a:off x="7406640" y="2194560"/>
            <a:ext cx="1975104" cy="25877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" name="Shape 22"/>
          <p:cNvSpPr/>
          <p:nvPr/>
        </p:nvSpPr>
        <p:spPr>
          <a:xfrm>
            <a:off x="7571232" y="2395728"/>
            <a:ext cx="1645920" cy="420624"/>
          </a:xfrm>
          <a:prstGeom prst="roundRect">
            <a:avLst>
              <a:gd name="adj" fmla="val 34783"/>
            </a:avLst>
          </a:prstGeom>
          <a:noFill/>
          <a:ln w="15875">
            <a:solidFill>
              <a:srgbClr val="8A6D4A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Text 23"/>
          <p:cNvSpPr txBox="1"/>
          <p:nvPr/>
        </p:nvSpPr>
        <p:spPr>
          <a:xfrm>
            <a:off x="7571232" y="239572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kern="0" spc="100">
                <a:solidFill>
                  <a:srgbClr val="8A6D4A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GALLERY</a:t>
            </a:r>
            <a:endParaRPr lang="en-US" sz="1000"/>
          </a:p>
        </p:txBody>
      </p:sp>
      <p:sp>
        <p:nvSpPr>
          <p:cNvPr id="26" name="Text 24"/>
          <p:cNvSpPr txBox="1"/>
          <p:nvPr/>
        </p:nvSpPr>
        <p:spPr>
          <a:xfrm>
            <a:off x="7589520" y="3054096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B242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Humanise</a:t>
            </a:r>
            <a:endParaRPr lang="en-US" sz="1800"/>
          </a:p>
        </p:txBody>
      </p:sp>
      <p:sp>
        <p:nvSpPr>
          <p:cNvPr id="27" name="Text 25"/>
          <p:cNvSpPr txBox="1"/>
          <p:nvPr/>
        </p:nvSpPr>
        <p:spPr>
          <a:xfrm>
            <a:off x="7607808" y="3557016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>
                <a:solidFill>
                  <a:srgbClr val="7B6F6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Real centre life</a:t>
            </a:r>
            <a:endParaRPr lang="en-US" sz="115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>
                <a:solidFill>
                  <a:srgbClr val="7B6F6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with consent</a:t>
            </a:r>
            <a:endParaRPr lang="en-US" sz="1150"/>
          </a:p>
        </p:txBody>
      </p:sp>
      <p:sp>
        <p:nvSpPr>
          <p:cNvPr id="28" name="Shape 26"/>
          <p:cNvSpPr/>
          <p:nvPr/>
        </p:nvSpPr>
        <p:spPr>
          <a:xfrm>
            <a:off x="9409176" y="3255264"/>
            <a:ext cx="256032" cy="402336"/>
          </a:xfrm>
          <a:prstGeom prst="chevron">
            <a:avLst/>
          </a:prstGeom>
          <a:solidFill>
            <a:srgbClr val="D4C8BE"/>
          </a:solidFill>
          <a:ln w="12700">
            <a:solidFill>
              <a:srgbClr val="D4C8B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9" name="Shape 27"/>
          <p:cNvSpPr/>
          <p:nvPr/>
        </p:nvSpPr>
        <p:spPr>
          <a:xfrm>
            <a:off x="9656064" y="2194560"/>
            <a:ext cx="1975104" cy="25877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9CEC5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0" name="Shape 28"/>
          <p:cNvSpPr/>
          <p:nvPr/>
        </p:nvSpPr>
        <p:spPr>
          <a:xfrm>
            <a:off x="9820656" y="2395728"/>
            <a:ext cx="1645920" cy="420624"/>
          </a:xfrm>
          <a:prstGeom prst="roundRect">
            <a:avLst>
              <a:gd name="adj" fmla="val 34783"/>
            </a:avLst>
          </a:prstGeom>
          <a:noFill/>
          <a:ln w="15875">
            <a:solidFill>
              <a:srgbClr val="2B242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1" name="Text 29"/>
          <p:cNvSpPr txBox="1"/>
          <p:nvPr/>
        </p:nvSpPr>
        <p:spPr>
          <a:xfrm>
            <a:off x="9802368" y="240944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kern="0" spc="100">
                <a:solidFill>
                  <a:srgbClr val="2B242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CONTACT</a:t>
            </a:r>
            <a:endParaRPr lang="en-US" sz="1000"/>
          </a:p>
        </p:txBody>
      </p:sp>
      <p:sp>
        <p:nvSpPr>
          <p:cNvPr id="32" name="Text 30"/>
          <p:cNvSpPr txBox="1"/>
          <p:nvPr/>
        </p:nvSpPr>
        <p:spPr>
          <a:xfrm>
            <a:off x="9838944" y="3054096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>
                <a:solidFill>
                  <a:srgbClr val="2B242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Convert</a:t>
            </a:r>
            <a:endParaRPr lang="en-US" sz="1800"/>
          </a:p>
        </p:txBody>
      </p:sp>
      <p:sp>
        <p:nvSpPr>
          <p:cNvPr id="33" name="Text 31"/>
          <p:cNvSpPr txBox="1"/>
          <p:nvPr/>
        </p:nvSpPr>
        <p:spPr>
          <a:xfrm>
            <a:off x="9857232" y="3557016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>
                <a:solidFill>
                  <a:srgbClr val="7B6F6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Visit, enquire</a:t>
            </a:r>
            <a:endParaRPr lang="en-US" sz="115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>
                <a:solidFill>
                  <a:srgbClr val="7B6F6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WhatsApp</a:t>
            </a:r>
            <a:endParaRPr lang="en-US" sz="1150"/>
          </a:p>
        </p:txBody>
      </p:sp>
      <p:sp>
        <p:nvSpPr>
          <p:cNvPr id="34" name="Shape 32"/>
          <p:cNvSpPr/>
          <p:nvPr/>
        </p:nvSpPr>
        <p:spPr>
          <a:xfrm>
            <a:off x="658368" y="5189220"/>
            <a:ext cx="10954512" cy="566928"/>
          </a:xfrm>
          <a:prstGeom prst="roundRect">
            <a:avLst>
              <a:gd name="adj" fmla="val 29032"/>
            </a:avLst>
          </a:prstGeom>
          <a:solidFill>
            <a:srgbClr val="1F4D38"/>
          </a:solidFill>
          <a:ln w="12700">
            <a:solidFill>
              <a:srgbClr val="1F4D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5" name="Text 33"/>
          <p:cNvSpPr txBox="1"/>
          <p:nvPr/>
        </p:nvSpPr>
        <p:spPr>
          <a:xfrm>
            <a:off x="841248" y="5326380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140">
                <a:solidFill>
                  <a:srgbClr val="E8A33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DESIGN PRINCIPLE</a:t>
            </a:r>
            <a:endParaRPr lang="en-US" sz="1400"/>
          </a:p>
        </p:txBody>
      </p:sp>
      <p:sp>
        <p:nvSpPr>
          <p:cNvPr id="36" name="Text 34"/>
          <p:cNvSpPr txBox="1"/>
          <p:nvPr/>
        </p:nvSpPr>
        <p:spPr>
          <a:xfrm>
            <a:off x="2743200" y="529437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Every click should answer a parent question or move them one step closer to contact</a:t>
            </a:r>
            <a:endParaRPr lang="en-US" sz="135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B6F68"/>
                </a:solidFill>
                <a:latin typeface="Arimo"/>
                <a:ea typeface="Arimo"/>
                <a:cs typeface="Arimo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8" grpId="1" animBg="1"/>
      <p:bldP spid="29" grpId="0"/>
      <p:bldP spid="29" grpId="1" animBg="1"/>
      <p:bldP spid="30" grpId="0"/>
      <p:bldP spid="30" grpId="1" animBg="1"/>
      <p:bldP spid="31" grpId="0"/>
      <p:bldP spid="31" grpId="1" animBg="1"/>
      <p:bldP spid="32" grpId="0" animBg="1"/>
      <p:bldP spid="3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389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kern="0" spc="150">
                <a:solidFill>
                  <a:srgbClr val="C1502E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OUTCOME</a:t>
            </a:r>
            <a:endParaRPr lang="en-US" sz="120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>
                <a:solidFill>
                  <a:srgbClr val="1F4D3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Find faster. Trust sooner. Enquire easier.</a:t>
            </a:r>
            <a:endParaRPr lang="en-US" sz="2800"/>
          </a:p>
        </p:txBody>
      </p:sp>
      <p:sp>
        <p:nvSpPr>
          <p:cNvPr id="4" name="Text 2"/>
          <p:cNvSpPr txBox="1"/>
          <p:nvPr/>
        </p:nvSpPr>
        <p:spPr>
          <a:xfrm>
            <a:off x="566928" y="1408176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>
                <a:solidFill>
                  <a:srgbClr val="7B6F6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website is designed to create clarity today — and a stronger digital foundation for tomorrow</a:t>
            </a:r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658368" y="2139696"/>
            <a:ext cx="3401568" cy="1901952"/>
          </a:xfrm>
          <a:prstGeom prst="roundRect">
            <a:avLst>
              <a:gd name="adj" fmla="val 8654"/>
            </a:avLst>
          </a:prstGeom>
          <a:solidFill>
            <a:srgbClr val="FFFFFF"/>
          </a:solidFill>
          <a:ln w="12700">
            <a:solidFill>
              <a:srgbClr val="E7E1D8"/>
            </a:solidFill>
            <a:prstDash val="solid"/>
          </a:ln>
          <a:effectLst>
            <a:outerShdw blurRad="90000" dist="20000" dir="5400000" rotWithShape="0">
              <a:srgbClr val="2B242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6" name="Text 4"/>
          <p:cNvSpPr txBox="1"/>
          <p:nvPr/>
        </p:nvSpPr>
        <p:spPr>
          <a:xfrm>
            <a:off x="859536" y="2359152"/>
            <a:ext cx="2999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300" b="1" kern="0" spc="150">
                <a:solidFill>
                  <a:srgbClr val="E8A33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FIND</a:t>
            </a:r>
            <a:endParaRPr lang="en-US" sz="2300"/>
          </a:p>
        </p:txBody>
      </p:sp>
      <p:sp>
        <p:nvSpPr>
          <p:cNvPr id="7" name="Text 5"/>
          <p:cNvSpPr txBox="1"/>
          <p:nvPr/>
        </p:nvSpPr>
        <p:spPr>
          <a:xfrm>
            <a:off x="841248" y="28529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>
                <a:solidFill>
                  <a:srgbClr val="2B242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Key facts upfront</a:t>
            </a:r>
            <a:endParaRPr lang="en-US" sz="1250"/>
          </a:p>
        </p:txBody>
      </p:sp>
      <p:sp>
        <p:nvSpPr>
          <p:cNvPr id="8" name="Text 6"/>
          <p:cNvSpPr txBox="1"/>
          <p:nvPr/>
        </p:nvSpPr>
        <p:spPr>
          <a:xfrm>
            <a:off x="932688" y="321868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>
                <a:solidFill>
                  <a:srgbClr val="7B6F6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Age range, location and programmes are immediately visible.</a:t>
            </a:r>
            <a:endParaRPr lang="en-US" sz="1050"/>
          </a:p>
        </p:txBody>
      </p:sp>
      <p:sp>
        <p:nvSpPr>
          <p:cNvPr id="9" name="Shape 7"/>
          <p:cNvSpPr/>
          <p:nvPr/>
        </p:nvSpPr>
        <p:spPr>
          <a:xfrm>
            <a:off x="4425696" y="2139696"/>
            <a:ext cx="3401568" cy="1901952"/>
          </a:xfrm>
          <a:prstGeom prst="roundRect">
            <a:avLst>
              <a:gd name="adj" fmla="val 8654"/>
            </a:avLst>
          </a:prstGeom>
          <a:solidFill>
            <a:srgbClr val="FFFFFF"/>
          </a:solidFill>
          <a:ln w="12700">
            <a:solidFill>
              <a:srgbClr val="E7E1D8"/>
            </a:solidFill>
            <a:prstDash val="solid"/>
          </a:ln>
          <a:effectLst>
            <a:outerShdw blurRad="90000" dist="20000" dir="5400000" rotWithShape="0">
              <a:srgbClr val="2B242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0" name="Text 8"/>
          <p:cNvSpPr txBox="1"/>
          <p:nvPr/>
        </p:nvSpPr>
        <p:spPr>
          <a:xfrm>
            <a:off x="4626864" y="2359152"/>
            <a:ext cx="2999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300" b="1" kern="0" spc="150">
                <a:solidFill>
                  <a:srgbClr val="1F4D3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TRUST</a:t>
            </a:r>
            <a:endParaRPr lang="en-US" sz="2300"/>
          </a:p>
        </p:txBody>
      </p:sp>
      <p:sp>
        <p:nvSpPr>
          <p:cNvPr id="11" name="Text 9"/>
          <p:cNvSpPr txBox="1"/>
          <p:nvPr/>
        </p:nvSpPr>
        <p:spPr>
          <a:xfrm>
            <a:off x="4608576" y="28529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>
                <a:solidFill>
                  <a:srgbClr val="2B242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Real facts, local voice</a:t>
            </a:r>
            <a:endParaRPr lang="en-US" sz="1250"/>
          </a:p>
        </p:txBody>
      </p:sp>
      <p:sp>
        <p:nvSpPr>
          <p:cNvPr id="12" name="Text 10"/>
          <p:cNvSpPr txBox="1"/>
          <p:nvPr/>
        </p:nvSpPr>
        <p:spPr>
          <a:xfrm>
            <a:off x="4700016" y="321868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>
                <a:solidFill>
                  <a:srgbClr val="7B6F6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Confirmed programme details replace generic claims wherever possible.</a:t>
            </a:r>
            <a:endParaRPr lang="en-US" sz="1050"/>
          </a:p>
        </p:txBody>
      </p:sp>
      <p:sp>
        <p:nvSpPr>
          <p:cNvPr id="13" name="Shape 11"/>
          <p:cNvSpPr/>
          <p:nvPr/>
        </p:nvSpPr>
        <p:spPr>
          <a:xfrm>
            <a:off x="8193024" y="2139696"/>
            <a:ext cx="3401568" cy="1901952"/>
          </a:xfrm>
          <a:prstGeom prst="roundRect">
            <a:avLst>
              <a:gd name="adj" fmla="val 8654"/>
            </a:avLst>
          </a:prstGeom>
          <a:solidFill>
            <a:srgbClr val="FFFFFF"/>
          </a:solidFill>
          <a:ln w="12700">
            <a:solidFill>
              <a:srgbClr val="E7E1D8"/>
            </a:solidFill>
            <a:prstDash val="solid"/>
          </a:ln>
          <a:effectLst>
            <a:outerShdw blurRad="90000" dist="20000" dir="5400000" rotWithShape="0">
              <a:srgbClr val="2B242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4" name="Text 12"/>
          <p:cNvSpPr txBox="1"/>
          <p:nvPr/>
        </p:nvSpPr>
        <p:spPr>
          <a:xfrm>
            <a:off x="8394192" y="2359152"/>
            <a:ext cx="2999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300" b="1" kern="0" spc="150">
                <a:solidFill>
                  <a:srgbClr val="C1502E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ENQUIRE</a:t>
            </a:r>
            <a:endParaRPr lang="en-US" sz="2300"/>
          </a:p>
        </p:txBody>
      </p:sp>
      <p:sp>
        <p:nvSpPr>
          <p:cNvPr id="15" name="Text 13"/>
          <p:cNvSpPr txBox="1"/>
          <p:nvPr/>
        </p:nvSpPr>
        <p:spPr>
          <a:xfrm>
            <a:off x="8375904" y="28529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>
                <a:solidFill>
                  <a:srgbClr val="2B242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Clear calls to action</a:t>
            </a:r>
            <a:endParaRPr lang="en-US" sz="1250"/>
          </a:p>
        </p:txBody>
      </p:sp>
      <p:sp>
        <p:nvSpPr>
          <p:cNvPr id="16" name="Text 14"/>
          <p:cNvSpPr txBox="1"/>
          <p:nvPr/>
        </p:nvSpPr>
        <p:spPr>
          <a:xfrm>
            <a:off x="8467344" y="321868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>
                <a:solidFill>
                  <a:srgbClr val="7B6F6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Parents have an obvious next step instead of a dead end.</a:t>
            </a:r>
            <a:endParaRPr lang="en-US" sz="1050"/>
          </a:p>
        </p:txBody>
      </p:sp>
      <p:sp>
        <p:nvSpPr>
          <p:cNvPr id="17" name="Text 15"/>
          <p:cNvSpPr txBox="1"/>
          <p:nvPr/>
        </p:nvSpPr>
        <p:spPr>
          <a:xfrm>
            <a:off x="713232" y="43708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>
                <a:solidFill>
                  <a:srgbClr val="2B242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Before launch, we keep it responsible:</a:t>
            </a:r>
            <a:endParaRPr lang="en-US" sz="1300"/>
          </a:p>
        </p:txBody>
      </p:sp>
      <p:sp>
        <p:nvSpPr>
          <p:cNvPr id="18" name="Shape 16"/>
          <p:cNvSpPr/>
          <p:nvPr/>
        </p:nvSpPr>
        <p:spPr>
          <a:xfrm>
            <a:off x="749808" y="4791456"/>
            <a:ext cx="182880" cy="182880"/>
          </a:xfrm>
          <a:prstGeom prst="ellipse">
            <a:avLst/>
          </a:prstGeom>
          <a:solidFill>
            <a:srgbClr val="1F4D38"/>
          </a:solidFill>
          <a:ln w="12700">
            <a:solidFill>
              <a:srgbClr val="1F4D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Text 17"/>
          <p:cNvSpPr txBox="1"/>
          <p:nvPr/>
        </p:nvSpPr>
        <p:spPr>
          <a:xfrm>
            <a:off x="749808" y="47823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b="1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✓</a:t>
            </a:r>
            <a:endParaRPr lang="en-US" sz="800"/>
          </a:p>
        </p:txBody>
      </p:sp>
      <p:sp>
        <p:nvSpPr>
          <p:cNvPr id="20" name="Text 18"/>
          <p:cNvSpPr txBox="1"/>
          <p:nvPr/>
        </p:nvSpPr>
        <p:spPr>
          <a:xfrm>
            <a:off x="1033272" y="473659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>
                <a:solidFill>
                  <a:srgbClr val="7B6F6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Confirm WhatsApp, email, hours and fees</a:t>
            </a:r>
            <a:endParaRPr lang="en-US" sz="1150"/>
          </a:p>
        </p:txBody>
      </p:sp>
      <p:sp>
        <p:nvSpPr>
          <p:cNvPr id="21" name="Shape 19"/>
          <p:cNvSpPr/>
          <p:nvPr/>
        </p:nvSpPr>
        <p:spPr>
          <a:xfrm>
            <a:off x="749808" y="5184648"/>
            <a:ext cx="182880" cy="182880"/>
          </a:xfrm>
          <a:prstGeom prst="ellipse">
            <a:avLst/>
          </a:prstGeom>
          <a:solidFill>
            <a:srgbClr val="1F4D38"/>
          </a:solidFill>
          <a:ln w="12700">
            <a:solidFill>
              <a:srgbClr val="1F4D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2" name="Text 20"/>
          <p:cNvSpPr txBox="1"/>
          <p:nvPr/>
        </p:nvSpPr>
        <p:spPr>
          <a:xfrm>
            <a:off x="749808" y="51755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b="1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✓</a:t>
            </a:r>
            <a:endParaRPr lang="en-US" sz="800"/>
          </a:p>
        </p:txBody>
      </p:sp>
      <p:sp>
        <p:nvSpPr>
          <p:cNvPr id="23" name="Text 21"/>
          <p:cNvSpPr txBox="1"/>
          <p:nvPr/>
        </p:nvSpPr>
        <p:spPr>
          <a:xfrm>
            <a:off x="1033272" y="512978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>
                <a:solidFill>
                  <a:srgbClr val="7B6F6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Use real photos only with parental consent</a:t>
            </a:r>
            <a:endParaRPr lang="en-US" sz="1150"/>
          </a:p>
        </p:txBody>
      </p:sp>
      <p:sp>
        <p:nvSpPr>
          <p:cNvPr id="24" name="Shape 22"/>
          <p:cNvSpPr/>
          <p:nvPr/>
        </p:nvSpPr>
        <p:spPr>
          <a:xfrm>
            <a:off x="749808" y="5577840"/>
            <a:ext cx="182880" cy="182880"/>
          </a:xfrm>
          <a:prstGeom prst="ellipse">
            <a:avLst/>
          </a:prstGeom>
          <a:solidFill>
            <a:srgbClr val="1F4D38"/>
          </a:solidFill>
          <a:ln w="12700">
            <a:solidFill>
              <a:srgbClr val="1F4D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Text 23"/>
          <p:cNvSpPr txBox="1"/>
          <p:nvPr/>
        </p:nvSpPr>
        <p:spPr>
          <a:xfrm>
            <a:off x="749808" y="55686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b="1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✓</a:t>
            </a:r>
            <a:endParaRPr lang="en-US" sz="800"/>
          </a:p>
        </p:txBody>
      </p:sp>
      <p:sp>
        <p:nvSpPr>
          <p:cNvPr id="26" name="Text 24"/>
          <p:cNvSpPr txBox="1"/>
          <p:nvPr/>
        </p:nvSpPr>
        <p:spPr>
          <a:xfrm>
            <a:off x="1033272" y="552297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>
                <a:solidFill>
                  <a:srgbClr val="7B6F6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Keep every claim evidence-based</a:t>
            </a:r>
            <a:endParaRPr lang="en-US" sz="1150"/>
          </a:p>
        </p:txBody>
      </p:sp>
      <p:sp>
        <p:nvSpPr>
          <p:cNvPr id="27" name="Shape 25"/>
          <p:cNvSpPr/>
          <p:nvPr/>
        </p:nvSpPr>
        <p:spPr>
          <a:xfrm>
            <a:off x="6693408" y="4370832"/>
            <a:ext cx="4736592" cy="1426464"/>
          </a:xfrm>
          <a:prstGeom prst="roundRect">
            <a:avLst>
              <a:gd name="adj" fmla="val 11538"/>
            </a:avLst>
          </a:prstGeom>
          <a:solidFill>
            <a:srgbClr val="1F4D38"/>
          </a:solidFill>
          <a:ln w="12700">
            <a:solidFill>
              <a:srgbClr val="1F4D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8" name="Text 26"/>
          <p:cNvSpPr txBox="1"/>
          <p:nvPr/>
        </p:nvSpPr>
        <p:spPr>
          <a:xfrm>
            <a:off x="6995160" y="4590288"/>
            <a:ext cx="41330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300" b="1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“Rooted in Sarawak,</a:t>
            </a:r>
            <a:endParaRPr lang="en-US" sz="230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300" b="1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growing every child.”</a:t>
            </a:r>
            <a:endParaRPr lang="en-US" sz="2300"/>
          </a:p>
        </p:txBody>
      </p:sp>
      <p:sp>
        <p:nvSpPr>
          <p:cNvPr id="29" name="Text 27"/>
          <p:cNvSpPr txBox="1"/>
          <p:nvPr/>
        </p:nvSpPr>
        <p:spPr>
          <a:xfrm>
            <a:off x="6995160" y="5340096"/>
            <a:ext cx="4133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kern="0" spc="120">
                <a:solidFill>
                  <a:srgbClr val="E8A33D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Thank you</a:t>
            </a:r>
            <a:endParaRPr lang="en-US" sz="140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B6F68"/>
                </a:solidFill>
                <a:latin typeface="Arimo"/>
                <a:ea typeface="Arimo"/>
                <a:cs typeface="Arimo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m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m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</Slides>
  <Notes>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My Little House Play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Little House Play School — Hackathon Pitch</dc:title>
  <dc:subject>Sarawak Hackathon 3-minute pitch</dc:subject>
  <dc:creator>OpenAI</dc:creator>
  <cp:revision>1</cp:revision>
  <dcterms:created xsi:type="dcterms:W3CDTF">2026-09-03T14:40:13Z</dcterms:created>
  <dcterms:modified xsi:type="dcterms:W3CDTF">2026-09-04T04:43:18Z</dcterms:modified>
</cp:coreProperties>
</file>